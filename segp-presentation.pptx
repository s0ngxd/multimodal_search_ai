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notesMaster" Target="notesMasters/notesMaster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heme" Target="theme/theme1.xml"/>
  <Relationship Id="rId16" Type="http://schemas.openxmlformats.org/officeDocument/2006/relationships/tableStyles" Target="tableStyles.xml"/>
  <Relationship Id="rId17" Type="http://schemas.openxmlformats.org/officeDocument/2006/relationships/slide" Target="slides/slide11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COMP2019 · GROUP 20 · UNIVERSITY OF NOTTINGHAM MALAYSIA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Multimodal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image search powered by CLIP · BLIP · LanceDB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041648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9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Aariz Sajan · Karl Munduni · Song · XU BINDAN · Zheng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4169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WyseTime Technologies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461772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  client-nine-xi-31.vercel.app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Images Shouldn't Require a Filename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WyseTime Technologies builds AI computer vision tools for security and surveillance. Their core challenge: a growing database of images that can only be searched by exact filename or manually applied tags. There is no way to search by what is actually in the image.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606040" cy="16459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331720"/>
            <a:ext cx="54864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4231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715768"/>
            <a:ext cx="23500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'surveillance footage' returns nothing useful — images have no semantic metadata.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606040" cy="16459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331720"/>
            <a:ext cx="54864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4231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Tagging Doesn't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715768"/>
            <a:ext cx="23500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Human-tagged libraries are incomplete, inconsistent, and impossible to maintain at volume.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331720"/>
            <a:ext cx="2606040" cy="16459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331720"/>
            <a:ext cx="54864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4231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Conceptual 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2715768"/>
            <a:ext cx="23500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can't find 'a man wearing glasses' or 'crowd near entrance' without exact labels.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160520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client requested an MVP — a proof of concept — demonstrating intelligent, real-time image search using CLIP and LanceDB."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Description. Find the Image.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image search engine that understands natural language. No filenames, no manual tags — just describe what you are looking for.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2024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116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30428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concepts, emotions, objects, or scenes. 'Elderly man with glasses', 'red trolley on city street', 'mountain landscape at sunset'.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920240"/>
            <a:ext cx="54864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Auto-Captioning (BLIP)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30428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image is automatically described using BLIP. Captions are searchable and displayed in results.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37560"/>
            <a:ext cx="54864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429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72160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searches per query — against image embeddings AND caption embeddings. Best match wins. Higher recall than single-vector search.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337560"/>
            <a:ext cx="54864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429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Ingestion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372160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 via file, URL, or bulk CSV import. Images become searchable in ~13 seconds. No CLI required.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Cloud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2606040" cy="274320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2606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7335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(CDN)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UI · Admin Panel · Results Grid · Lightbox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28803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91840" y="1508760"/>
            <a:ext cx="2606040" cy="27432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0876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67335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29000" y="19842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313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(Docker)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679192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· BLIP · Ingestion · Search · CORS · Static files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8803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1508760"/>
            <a:ext cx="2606040" cy="2743200"/>
          </a:xfrm>
          <a:prstGeom prst="rect">
            <a:avLst/>
          </a:prstGeom>
          <a:solidFill>
            <a:srgbClr val="12121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508760"/>
            <a:ext cx="26060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67335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17920" y="19842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+ HF 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2313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+ HF Dataset Repo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2679192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 vectors · Image files · Auto-sync on write · Restore on boot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REST API  ───────────────────────────────────────────────  HF Hub Sync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4663440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14B8A6">
              <a:alpha val="12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4663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solved via HF Dataset repo — survives free-tier container restarts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</a:rPr>
              <a:t>AI MODELS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Ingestion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97764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1828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OpenAI  ·  ~400MB  ·  Image &amp; Text Embedding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0665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both images and text into 512-dimensional vectors in a shared space. Makes text-to-image search possible.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63040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1828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Salesforce  ·  ~990MB  ·  Auto-Captioning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3752" y="20665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natural language descriptions of images. Lazy-loaded — only initialised on first caption request to reduce cold start.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PIPELINE FOR EVERY UPLOADED IMAGE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260604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→ Image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416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encodes the image into a 512-dim vector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08960" y="4133088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429000"/>
            <a:ext cx="260604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5661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→ Caption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40416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generates a natural language description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97880" y="4133088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3429000"/>
            <a:ext cx="260604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56616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→ Text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40416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encodes the caption into a second 512-dim vector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919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Both vectors + caption stored in LanceDB — two search pathways per image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Two Vectors, One Answer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1920240" cy="5943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63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"elephant crossing"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755648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463040"/>
            <a:ext cx="1828800" cy="5943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Text 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512-dim query vector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20574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794760" y="2331720"/>
            <a:ext cx="0" cy="11887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794760" y="2331720"/>
            <a:ext cx="411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3520440"/>
            <a:ext cx="4114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331720"/>
            <a:ext cx="2286000" cy="8229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2331720"/>
            <a:ext cx="54864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386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vs IMAGE vectors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43400" y="2825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matching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↔ image space)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sim ≈ 0.35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2286000" cy="82296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320040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vs CAPTION vectors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6941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Same-modal matching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↔ text)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reach sim = 1.0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2743200"/>
            <a:ext cx="0" cy="77724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520440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3108960"/>
            <a:ext cx="2286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2834640"/>
            <a:ext cx="1600200" cy="54864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9516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per image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06240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2519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Rescaling — raw cosine similarity (0.40–1.00) is remapped to 0–100% for display. A raw score of 0.40 or below = 0%, 1.0 = 100%. Without this, a correct match showing 22% would make the system look broken.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Accuracy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 queries · 30 indexed images · CPU-only inference on Hugging Face Spaces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image is #1 result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24328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4328" y="182880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88920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image in top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36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45736" y="1828800"/>
            <a:ext cx="54864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10328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image in top 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828800"/>
            <a:ext cx="54864" cy="1417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31736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(MRR)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— 3 MISSES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675888"/>
            <a:ext cx="8138160" cy="301752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9417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"wildlife in Africa"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694176"/>
            <a:ext cx="5989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caption says 'elephants on a dirt road' — no geographic context. CLIP has no concept of Africa from the image alone. Ranked 6th.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023360"/>
            <a:ext cx="8138160" cy="301752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4164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"agricultural scene with livestock"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4041648"/>
            <a:ext cx="5989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misidentified the image — generated “a man feeding a goat” when the image shows a man petting a dog. Both vectors are based on a wrong caption. Ranked 3rd.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370832"/>
            <a:ext cx="8138160" cy="301752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8912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"fashion portrait, minimal background"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4389120"/>
            <a:ext cx="5989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descriptor — CLIP doesn't strongly associate 'fashion portrait' with a woman in a red dress. Ranked 10th.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in Production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Hugging Face Spaces free tier · 2 vCPU · 16GB RAM · CPU-only PyTorch · No GPU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(warm server)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24328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4328" y="1874520"/>
            <a:ext cx="54864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88920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36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45736" y="1874520"/>
            <a:ext cx="54864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~24/min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10328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ingestion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874520"/>
            <a:ext cx="54864" cy="1325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31736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sleep)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3558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OPTIMISATIONS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630168"/>
            <a:ext cx="54864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Text Cache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128-entry cache for text embeddings. Repeated queries return instantly without hitting CLIP again.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24328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24328" y="3630168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BLIP Loading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88920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(~990MB) only loads on first caption request — cuts cold start from ~60s to ~30s for search-only sessions.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45736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45736" y="3630168"/>
            <a:ext cx="54864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CLIP Embedding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0328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ingestion processes 16 images per forward pass instead of one at a time — 8 concurrent download threads.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67144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67144" y="3630168"/>
            <a:ext cx="54864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1736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IVF-PQ Index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31736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automatically at 256+ rows. Partitions vector space — search becomes sub-linear at scale.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REFLECTION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" cy="3200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BLIP vs Gemini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replacing BLIP with Gemini 3.1 Flash Lite as the captioning model. Gemini produced much richer captions — but overall search accuracy dropped.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CLIP's text encoder was trained on short, simple captions — the kind BLIP produces. Long, detailed Gemini captions created diluted embeddings.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upgrading one model in a tightly coupled system can degrade the whole. BLIP + CLIP are matched; a Gemini upgrade would also require a text encoder upgrade.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63040"/>
            <a:ext cx="54864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Version Control Debt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ended with 19 unmerged commits on main and the final version on a separate branch. A merge attempt produced a conflict in the README — small, but symbolic.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agreed branching strategy from day one. Development was concentrated in one contributor, so regular merges felt unnecessary — until Open Day prep revealed the divergence.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process debt compounds just like code debt. Small, frequent merges beat large, painful ones. Pull requests matter even in a team of five.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81888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these gaps — the system works, is deployed, and meets all client requirements.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What's Next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099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image search — no filenames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CLIP + BLIP dual-vector search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3230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04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ingestion via file upload, URL, and bulk CSV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77977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523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with gallery and captioning feedback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998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cloud deployment on HF Spaces + Vercel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472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 Precision@1, 86.7% Precision@10, MRR 0.84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463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1737360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7099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CLIP ViT-L/14 for higher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84832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longer text encoder with Gemini captions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432304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404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image-to-image reverse search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779776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7523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for admin panel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127248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0998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corpus with WyseTime's own dataset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8404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3017520" y="4617720"/>
            <a:ext cx="310896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client-nine-xi-31.vercel.app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920000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9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RESEARCH EXTENSION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+ RRF + OWL-ViT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" cy="3200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+ Reciprocal Rank Fusion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(Google) replaces CLIP — uses sigmoid loss instead of softmax, improving cross-modal alignment. Prompt template “a photo of {query}” boosts match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3-channel fusion: image vectors + caption vectors + BM25 keyword search. Merged with Reciprocal Rank Fusion — score = Σ 1/(60 + rank). Rewards results that rank well across all three channels, not just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SigLIP’s stronger image vectors reduce dependence on BLIP captioning — 96% vs 76% cross-modal confidence on the same image, even when BLIP captions fail. BLIP still contributes on keyword-only queries (“veteran”, “Africa”) with no visual signature.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63040"/>
            <a:ext cx="54864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Object Verification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RRF ranking, top candidates are re-examined with OWL-ViT (Open World Localization with Vision Transformers) — Google’s open-vocabulary object detector.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physically locates the queried object inside each image. A strong detection boosts the RRF score; weak detections are ignored. Turns semantic similarity into physical verification — the system doesn’t just think the image matches, it checks.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81888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branch by Song — not yet merged into the production deployment.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Multimodal Search Engine</dc:title>
  <dc:subject>PptxGenJS Presentation</dc:subject>
  <dc:creator>Group 20 — University of Nottingham Malaysia</dc:creator>
  <cp:lastModifiedBy>Group 20 — University of Nottingham Malaysia</cp:lastModifiedBy>
  <cp:revision>1</cp:revision>
  <dcterms:created xsi:type="dcterms:W3CDTF">2026-04-06T13:24:01Z</dcterms:created>
  <dcterms:modified xsi:type="dcterms:W3CDTF">2026-04-06T13:24:01Z</dcterms:modified>
</cp:coreProperties>
</file>

<file path=pptx-unpacked/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pptx-unpacked/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x-unpacked/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pptx-unpacked/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Multimodal Search Engine</dc:title>
  <dc:subject>PptxGenJS Presentation</dc:subject>
  <dc:creator>Group 20 — University of Nottingham Malaysia</dc:creator>
  <cp:lastModifiedBy>Group 20 — University of Nottingham Malaysia</cp:lastModifiedBy>
  <cp:revision>1</cp:revision>
  <dcterms:created xsi:type="dcterms:W3CDTF">2026-04-06T13:24:01Z</dcterms:created>
  <dcterms:modified xsi:type="dcterms:W3CDTF">2026-04-06T13:24:01Z</dcterms:modified>
</cp:coreProperties>
</file>

<file path=pptx-unpacked/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notesMaster" Target="notesMasters/notesMaster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heme" Target="theme/theme1.xml"/>
  <Relationship Id="rId16" Type="http://schemas.openxmlformats.org/officeDocument/2006/relationships/tableStyles" Target="tableStyles.xml"/>
  <Relationship Id="rId17" Type="http://schemas.openxmlformats.org/officeDocument/2006/relationships/slide" Target="slides/slide11.xml"/>
</Relationships>

</file>

<file path=pptx-unpacked/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x-unpacked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x-unpacked/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x-unpacked/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x-unpacked/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x-unpacked/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x-unpacked/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x-unpacked/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x-unpacked/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x-unpacked/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x-unpacked/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x-unpacked/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x-unpacked/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x-unpacked/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x-unpacked/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x-unpacked/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x-unpacked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x-unpacked/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x-unpacked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x-unpacked/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x-unpacked/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x-unpacked/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x-unpacked/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x-unpacked/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x-unpacked/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x-unpacked/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x-unpacked/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x-unpacked/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x-unpacked/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x-unpacked/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x-unpacked/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COMP2019 · GROUP 20 · UNIVERSITY OF NOTTINGHAM MALAYSIA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Multimodal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image search powered by CLIP · BLIP · LanceDB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041648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69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Aariz Sajan · Karl Munduni · Song · XU BINDAN · Zheng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4169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WyseTime Technologies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4617720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  client-nine-xi-31.vercel.app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Images Shouldn't Require a Filename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WyseTime Technologies builds AI computer vision tools for security and surveillance. Their core challenge: a growing database of images that can only be searched by exact filename or manually applied tags. There is no way to search by what is actually in the image.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606040" cy="16459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331720"/>
            <a:ext cx="54864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4231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715768"/>
            <a:ext cx="23500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'surveillance footage' returns nothing useful — images have no semantic metadata.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606040" cy="16459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331720"/>
            <a:ext cx="54864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4231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Tagging Doesn't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715768"/>
            <a:ext cx="23500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Human-tagged libraries are incomplete, inconsistent, and impossible to maintain at volume.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331720"/>
            <a:ext cx="2606040" cy="16459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331720"/>
            <a:ext cx="54864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4231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Conceptual 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2715768"/>
            <a:ext cx="23500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can't find 'a man wearing glasses' or 'crowd near entrance' without exact labels.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160520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client requested an MVP — a proof of concept — demonstrating intelligent, real-time image search using CLIP and LanceDB."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Description. Find the Image.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 image search engine that understands natural language. No filenames, no manual tags — just describe what you are looking for.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2024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116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30428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concepts, emotions, objects, or scenes. 'Elderly man with glasses', 'red trolley on city street', 'mountain landscape at sunset'.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920240"/>
            <a:ext cx="54864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Auto-Captioning (BLIP)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30428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image is automatically described using BLIP. Captions are searchable and displayed in results.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37560"/>
            <a:ext cx="54864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429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372160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searches per query — against image embeddings AND caption embeddings. Best match wins. Higher recall than single-vector search.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388620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337560"/>
            <a:ext cx="54864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429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Ingestion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3721608"/>
            <a:ext cx="36301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 via file, URL, or bulk CSV import. Images become searchable in ~13 seconds. No CLI required.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Cloud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08760"/>
            <a:ext cx="2606040" cy="274320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2606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7335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(CDN)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UI · Admin Panel · Results Grid · Lightbox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28803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91840" y="1508760"/>
            <a:ext cx="2606040" cy="27432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08760"/>
            <a:ext cx="26060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67335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29000" y="19842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313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(Docker)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679192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· BLIP · Ingestion · Search · CORS · Static files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8803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80760" y="1508760"/>
            <a:ext cx="2606040" cy="2743200"/>
          </a:xfrm>
          <a:prstGeom prst="rect">
            <a:avLst/>
          </a:prstGeom>
          <a:solidFill>
            <a:srgbClr val="12121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508760"/>
            <a:ext cx="26060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673352"/>
            <a:ext cx="1097280" cy="201168"/>
          </a:xfrm>
          <a:prstGeom prst="roundRect">
            <a:avLst>
              <a:gd name="adj" fmla="val 22727"/>
            </a:avLst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17920" y="19842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+ HF 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23134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+ HF Dataset Repo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2679192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78892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512-dim vectors · Image files · Auto-sync on write · Restore on boot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REST API  ───────────────────────────────────────────────  HF Hub Sync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4663440"/>
            <a:ext cx="5120640" cy="256032"/>
          </a:xfrm>
          <a:prstGeom prst="roundRect">
            <a:avLst>
              <a:gd name="adj" fmla="val 21429"/>
            </a:avLst>
          </a:prstGeom>
          <a:solidFill>
            <a:srgbClr val="14B8A6">
              <a:alpha val="12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4663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solved via HF Dataset repo — survives free-tier container restarts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</a:rPr>
              <a:t>AI MODELS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Ingestion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97764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" cy="1508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1828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OpenAI  ·  ~400MB  ·  Image &amp; Text Embedding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0665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both images and text into 512-dimensional vectors in a shared space. Makes text-to-image search possible.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77640" cy="150876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63040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73752" y="1828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Salesforce  ·  ~990MB  ·  Auto-Captioning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3752" y="206654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natural language descriptions of images. Lazy-loaded — only initialised on first caption request to reduce cold start.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1272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PIPELINE FOR EVERY UPLOADED IMAGE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260604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→ Image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416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encodes the image into a 512-dim vector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08960" y="4133088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429000"/>
            <a:ext cx="260604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5661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→ Caption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40416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generates a natural language description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97880" y="4133088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3429000"/>
            <a:ext cx="260604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56616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→ Text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40416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encodes the caption into a second 512-dim vector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9194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Both vectors + caption stored in LanceDB — two search pathways per image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Two Vectors, One Answer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1920240" cy="5943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630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"elephant crossing"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755648"/>
            <a:ext cx="457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1463040"/>
            <a:ext cx="1828800" cy="5943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Text 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512-dim query vector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20574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794760" y="2331720"/>
            <a:ext cx="0" cy="11887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794760" y="2331720"/>
            <a:ext cx="4114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3520440"/>
            <a:ext cx="41148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331720"/>
            <a:ext cx="2286000" cy="82296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2331720"/>
            <a:ext cx="54864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386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26243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vs IMAGE vectors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43400" y="28254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matching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↔ image space)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sim ≈ 0.35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2286000" cy="82296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320040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vs CAPTION vectors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6941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Same-modal matching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 ↔ text)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reach sim = 1.0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92240" y="2743200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2743200"/>
            <a:ext cx="0" cy="77724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520440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3108960"/>
            <a:ext cx="2286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2834640"/>
            <a:ext cx="1600200" cy="54864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9516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per image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206240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2519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Rescaling — raw cosine similarity (0.40–1.00) is remapped to 0–100% for display. A raw score of 0.40 or below = 0%, 1.0 = 100%. Without this, a correct match showing 22% would make the system look broken.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Accuracy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test queries · 30 indexed images · CPU-only inference on Hugging Face Spaces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image is #1 result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24328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4328" y="182880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88920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image in top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36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45736" y="1828800"/>
            <a:ext cx="54864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10328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image in top 10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1828800"/>
            <a:ext cx="1874520" cy="141732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828800"/>
            <a:ext cx="54864" cy="1417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1901952"/>
            <a:ext cx="16459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31736" y="2650846"/>
            <a:ext cx="16459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(MRR)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— 3 MISSES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675888"/>
            <a:ext cx="8138160" cy="301752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9417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"wildlife in Africa"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694176"/>
            <a:ext cx="5989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caption says 'elephants on a dirt road' — no geographic context. CLIP has no concept of Africa from the image alone. Ranked 6th.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023360"/>
            <a:ext cx="8138160" cy="301752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4164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"agricultural scene with livestock"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4041648"/>
            <a:ext cx="5989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misidentified the image — generated “a man feeding a goat” when the image shows a man petting a dog. Both vectors are based on a wrong caption. Ranked 3rd.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4370832"/>
            <a:ext cx="8138160" cy="301752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8912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"fashion portrait, minimal background"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4389120"/>
            <a:ext cx="5989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descriptor — CLIP doesn't strongly associate 'fashion portrait' with a woman in a red dress. Ranked 10th.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</a:rPr>
              <a:t>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in Production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Hugging Face Spaces free tier · 2 vCPU · 16GB RAM · CPU-only PyTorch · No GPU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(warm server)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24328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4328" y="1874520"/>
            <a:ext cx="54864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88920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36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45736" y="1874520"/>
            <a:ext cx="54864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~24/min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10328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ingestion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1874520"/>
            <a:ext cx="1874520" cy="132588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1874520"/>
            <a:ext cx="54864" cy="1325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1947672"/>
            <a:ext cx="16459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31736" y="2643530"/>
            <a:ext cx="16459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sleep)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3558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OPTIMISATIONS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630168"/>
            <a:ext cx="54864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Text Cache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128-entry cache for text embeddings. Repeated queries return instantly without hitting CLIP again.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24328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24328" y="3630168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BLIP Loading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88920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BLIP (~990MB) only loads on first caption request — cuts cold start from ~60s to ~30s for search-only sessions.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45736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45736" y="3630168"/>
            <a:ext cx="54864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CLIP Embedding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0328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ingestion processes 16 images per forward pass instead of one at a time — 8 concurrent download threads.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67144" y="3630168"/>
            <a:ext cx="1874520" cy="123444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67144" y="3630168"/>
            <a:ext cx="54864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1736" y="372160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IVF-PQ Index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31736" y="4014216"/>
            <a:ext cx="1618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automatically at 256+ rows. Partitions vector space — search becomes sub-linear at scale.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REFLECTION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" cy="3200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BLIP vs Gemini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replacing BLIP with Gemini 3.1 Flash Lite as the captioning model. Gemini produced much richer captions — but overall search accuracy dropped.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CLIP's text encoder was trained on short, simple captions — the kind BLIP produces. Long, detailed Gemini captions created diluted embeddings.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upgrading one model in a tightly coupled system can degrade the whole. BLIP + CLIP are matched; a Gemini upgrade would also require a text encoder upgrade.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63040"/>
            <a:ext cx="54864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Version Control Debt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ended with 19 unmerged commits on main and the final version on a separate branch. A merge attempt produced a conflict in the README — small, but symbolic.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agreed branching strategy from day one. Development was concentrated in one contributor, so regular merges felt unnecessary — until Open Day prep revealed the divergence.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process debt compounds just like code debt. Small, frequent merges beat large, painful ones. Pull requests matter even in a team of five.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81888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these gaps — the system works, is deployed, and meets all client requirements.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What's Next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099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image search — no filenames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CLIP + BLIP dual-vector search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3230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04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ingestion via file upload, URL, and bulk CSV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77977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7523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with gallery and captioning feedback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998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cloud deployment on HF Spaces + Vercel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47472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472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 Precision@1, 86.7% Precision@10, MRR 0.84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4630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1737360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70992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CLIP ViT-L/14 for higher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84832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longer text encoder with Gemini captions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432304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4048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image-to-image reverse search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779776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7523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for admin panel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127248"/>
            <a:ext cx="164592" cy="164592"/>
          </a:xfrm>
          <a:prstGeom prst="rect">
            <a:avLst/>
          </a:prstGeom>
          <a:solidFill>
            <a:srgbClr val="08080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0998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corpus with WyseTime's own dataset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8404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3017520" y="4617720"/>
            <a:ext cx="3108960" cy="274320"/>
          </a:xfrm>
          <a:prstGeom prst="roundRect">
            <a:avLst>
              <a:gd name="adj" fmla="val 26667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client-nine-xi-31.vercel.app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x-unpacked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920000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9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</a:rPr>
              <a:t>RESEARCH EXTENSION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+ RRF + OWL-ViT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0"/>
          </a:xfrm>
          <a:prstGeom prst="line">
            <a:avLst/>
          </a:prstGeom>
          <a:noFill/>
          <a:ln w="12700">
            <a:solidFill>
              <a:srgbClr val="1E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" cy="3200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+ Reciprocal Rank Fusion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(Google) replaces CLIP — uses sigmoid loss instead of softmax, improving cross-modal alignment. Prompt template “a photo of {query}” boosts match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3-channel fusion: image vectors + caption vectors + BM25 keyword search. Merged with Reciprocal Rank Fusion — score = Σ 1/(60 + rank). Rewards results that rank well across all three channels, not just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SigLIP’s stronger image vectors reduce dependence on BLIP captioning — 96% vs 76% cross-modal confidence on the same image, even when BLIP captions fail. BLIP still contributes on keyword-only queries (“veteran”, “Africa”) with no visual signature.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931920" cy="3200400"/>
          </a:xfrm>
          <a:prstGeom prst="rect">
            <a:avLst/>
          </a:prstGeom>
          <a:solidFill>
            <a:srgbClr val="12121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63040"/>
            <a:ext cx="54864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Object Verification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19202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RRF ranking, top candidates are re-examined with OWL-ViT (Open World Localization with Vision Transformers) — Google’s open-vocabulary object detector.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OWL-ViT physically locates the queried object inside each image. A strong detection boosts the RRF score; weak detections are ignored. Turns semantic similarity into physical verification — the system doesn’t just think the image matches, it checks.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solidFill>
            <a:srgbClr val="12121E"/>
          </a:solidFill>
          <a:ln w="1270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818888"/>
            <a:ext cx="7955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branch by Song — not yet merged into the production deployment.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x-unpacked/ppt/tableStyles.xml><?xml version="1.0" encoding="utf-8"?>
<a:tblStyleLst xmlns:a="http://schemas.openxmlformats.org/drawingml/2006/main" def="{5C22544A-7EE6-4342-B048-85BDC9FD1C3A}"/>
</file>

<file path=pptx-unpacked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x-unpacked/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